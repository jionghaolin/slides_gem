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PT Sans Narrow"/>
      <p:regular r:id="rId29"/>
      <p:bold r:id="rId30"/>
    </p:embeddedFont>
    <p:embeddedFont>
      <p:font typeface="Bebas Neue"/>
      <p:regular r:id="rId31"/>
    </p:embeddedFont>
    <p:embeddedFont>
      <p:font typeface="Open Sans"/>
      <p:regular r:id="rId32"/>
      <p:bold r:id="rId33"/>
      <p:italic r:id="rId34"/>
      <p:boldItalic r:id="rId35"/>
    </p:embeddedFont>
    <p:embeddedFont>
      <p:font typeface="Questrial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ebasNeue-regular.fntdata"/><Relationship Id="rId30" Type="http://schemas.openxmlformats.org/officeDocument/2006/relationships/font" Target="fonts/PTSansNarrow-bold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Questrial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280e840e2_0_1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280e840e2_0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280e840e2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280e840e2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280e840e2_0_1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f280e840e2_0_1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280e840e2_0_1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280e840e2_0_1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280e840e2_0_1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280e840e2_0_1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280e840e2_0_1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280e840e2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280e840e2_0_1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280e840e2_0_1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280e840e2_0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280e840e2_0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280e840e2_0_1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280e840e2_0_1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280e840e2_0_1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280e840e2_0_1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280e840e2_0_2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f280e840e2_0_2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f280e840e2_0_2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f280e840e2_0_2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280e840e2_0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280e840e2_0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280e840e2_0_2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280e840e2_0_2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f280e840e2_0_2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f280e840e2_0_2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280e840e2_0_2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f280e840e2_0_2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280e840e2_0_2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280e840e2_0_2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280e840e2_0_2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f280e840e2_0_2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7" name="Google Shape;37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1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4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" name="Google Shape;59;p14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1" name="Google Shape;61;p14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4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4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9" name="Google Shape;79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" name="Google Shape;84;p18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" name="Google Shape;86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1" name="Google Shape;91;p19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" name="Google Shape;93;p19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20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20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" name="Google Shape;104;p20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1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1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1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7" name="Google Shape;117;p21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9" name="Google Shape;119;p21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6" name="Google Shape;126;p22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23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" name="Google Shape;133;p23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n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n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n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n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ctrTitle"/>
          </p:nvPr>
        </p:nvSpPr>
        <p:spPr>
          <a:xfrm>
            <a:off x="924875" y="900050"/>
            <a:ext cx="74538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Assessing LLMs' Reading Comprehension Question Generation Capabilities</a:t>
            </a:r>
            <a:endParaRPr b="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924875" y="3108425"/>
            <a:ext cx="45534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Yoshee Jain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yosheej2@illinois.edu</a:t>
            </a:r>
            <a:endParaRPr/>
          </a:p>
        </p:txBody>
      </p:sp>
      <p:cxnSp>
        <p:nvCxnSpPr>
          <p:cNvPr id="143" name="Google Shape;143;p26"/>
          <p:cNvCxnSpPr/>
          <p:nvPr/>
        </p:nvCxnSpPr>
        <p:spPr>
          <a:xfrm>
            <a:off x="1023341" y="28768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Potential Research Questions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713225" y="1507300"/>
            <a:ext cx="7194000" cy="15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500">
                <a:solidFill>
                  <a:schemeClr val="dk1"/>
                </a:solidFill>
              </a:rPr>
              <a:t>Can LLMs simulate human learners in a test-taking environment?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500">
                <a:solidFill>
                  <a:schemeClr val="dk1"/>
                </a:solidFill>
              </a:rPr>
              <a:t>Can LLMs generate questions effectively testing various reading comprehension abilities for learners?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150" name="Google Shape;150;p27"/>
          <p:cNvCxnSpPr/>
          <p:nvPr/>
        </p:nvCxnSpPr>
        <p:spPr>
          <a:xfrm>
            <a:off x="805925" y="1198126"/>
            <a:ext cx="54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7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ctrTitle"/>
          </p:nvPr>
        </p:nvSpPr>
        <p:spPr>
          <a:xfrm>
            <a:off x="620075" y="5190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Overview of Methodology</a:t>
            </a:r>
            <a:endParaRPr b="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57" name="Google Shape;157;p28"/>
          <p:cNvCxnSpPr/>
          <p:nvPr/>
        </p:nvCxnSpPr>
        <p:spPr>
          <a:xfrm>
            <a:off x="718541" y="13528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8"/>
          <p:cNvSpPr txBox="1"/>
          <p:nvPr/>
        </p:nvSpPr>
        <p:spPr>
          <a:xfrm>
            <a:off x="587675" y="1709850"/>
            <a:ext cx="76803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Identify a reading comprehension framework that breaks down ‘reading comprehension’ into finite grained skills for assessment.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Identify questions that tests each of the skills in the reading comprehension framework.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Make the LLM complete the assessment. Record its accuracy and compare the results to results of the assessment from the target audience.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Make the LLM generate questions for each skill.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Again, have the LLM take an assessment (using questions it generated), record its results, and analyze in comparison to previous assessment results.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2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713225" y="1735900"/>
            <a:ext cx="7194000" cy="15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this project, we are focussing on the </a:t>
            </a:r>
            <a:r>
              <a:rPr b="1" lang="en" sz="1500">
                <a:solidFill>
                  <a:schemeClr val="dk1"/>
                </a:solidFill>
              </a:rPr>
              <a:t>Study Aid and Reading Assessment (SARA) [1] </a:t>
            </a:r>
            <a:r>
              <a:rPr lang="en" sz="1500">
                <a:solidFill>
                  <a:schemeClr val="dk1"/>
                </a:solidFill>
              </a:rPr>
              <a:t>framework.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 contains six subtests, each of which targets a specific component of reading affecting a student's reading comprehension proficiency.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this project, we are focusing on five subtests detailed in the next few slides.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5" name="Google Shape;165;p29"/>
          <p:cNvSpPr txBox="1"/>
          <p:nvPr>
            <p:ph type="title"/>
          </p:nvPr>
        </p:nvSpPr>
        <p:spPr>
          <a:xfrm>
            <a:off x="643800" y="445025"/>
            <a:ext cx="82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Nunito"/>
                <a:ea typeface="Nunito"/>
                <a:cs typeface="Nunito"/>
                <a:sym typeface="Nunito"/>
              </a:rPr>
              <a:t>Reading Comprehension Framework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66" name="Google Shape;166;p29"/>
          <p:cNvCxnSpPr/>
          <p:nvPr/>
        </p:nvCxnSpPr>
        <p:spPr>
          <a:xfrm>
            <a:off x="729725" y="1274326"/>
            <a:ext cx="54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9"/>
          <p:cNvSpPr txBox="1"/>
          <p:nvPr/>
        </p:nvSpPr>
        <p:spPr>
          <a:xfrm>
            <a:off x="787350" y="4464925"/>
            <a:ext cx="60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"/>
                <a:ea typeface="Nunito"/>
                <a:cs typeface="Nunito"/>
                <a:sym typeface="Nunito"/>
              </a:rPr>
              <a:t>[1] </a:t>
            </a:r>
            <a:r>
              <a:rPr lang="en" sz="800">
                <a:latin typeface="Nunito"/>
                <a:ea typeface="Nunito"/>
                <a:cs typeface="Nunito"/>
                <a:sym typeface="Nunito"/>
              </a:rPr>
              <a:t>https://onlinelibrary.wiley.com/doi/10.1002/ets2.12269</a:t>
            </a:r>
            <a:endParaRPr sz="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3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713225" y="1354900"/>
            <a:ext cx="7194000" cy="15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Word Recognition: </a:t>
            </a:r>
            <a:r>
              <a:rPr lang="en" sz="1500">
                <a:solidFill>
                  <a:schemeClr val="dk1"/>
                </a:solidFill>
              </a:rPr>
              <a:t>Ability to identify real words in a language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Word Decoding:</a:t>
            </a:r>
            <a:r>
              <a:rPr lang="en" sz="1500">
                <a:solidFill>
                  <a:schemeClr val="dk1"/>
                </a:solidFill>
              </a:rPr>
              <a:t> Ability of sounding out novel words that the reader has never or rarely seen before and identifying if it sounds like a real word or not. It is sometimes also referred as </a:t>
            </a:r>
            <a:r>
              <a:rPr b="1" lang="en" sz="1500">
                <a:solidFill>
                  <a:schemeClr val="dk1"/>
                </a:solidFill>
              </a:rPr>
              <a:t>phonological decoding.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567600" y="368825"/>
            <a:ext cx="82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Nunito"/>
                <a:ea typeface="Nunito"/>
                <a:cs typeface="Nunito"/>
                <a:sym typeface="Nunito"/>
              </a:rPr>
              <a:t> Subtest 1: Word Recognition and Decoding</a:t>
            </a:r>
            <a:endParaRPr sz="26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75" name="Google Shape;175;p30"/>
          <p:cNvCxnSpPr/>
          <p:nvPr/>
        </p:nvCxnSpPr>
        <p:spPr>
          <a:xfrm>
            <a:off x="729725" y="1121926"/>
            <a:ext cx="54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30"/>
          <p:cNvSpPr txBox="1"/>
          <p:nvPr/>
        </p:nvSpPr>
        <p:spPr>
          <a:xfrm>
            <a:off x="284075" y="2969700"/>
            <a:ext cx="3000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Item text:  water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Response options: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Is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Is NOT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Sounds EXACTLY like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Correct answer:  Is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3065475" y="2942500"/>
            <a:ext cx="3000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Item text:  dut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Response options: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Is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Is NOT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Sounds EXACTLY like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Correct answer:  Is NOT a real word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6021125" y="2824000"/>
            <a:ext cx="30000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Item text:  kare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Response options: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Is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Is NOT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●"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Sounds EXACTLY like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Correct answer:  Sounds EXACTLY like a real word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79" name="Google Shape;179;p30"/>
          <p:cNvCxnSpPr/>
          <p:nvPr/>
        </p:nvCxnSpPr>
        <p:spPr>
          <a:xfrm flipH="1">
            <a:off x="3010875" y="2942501"/>
            <a:ext cx="600" cy="162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30"/>
          <p:cNvCxnSpPr/>
          <p:nvPr/>
        </p:nvCxnSpPr>
        <p:spPr>
          <a:xfrm flipH="1">
            <a:off x="5901925" y="2917351"/>
            <a:ext cx="600" cy="162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1" name="Google Shape;181;p30"/>
          <p:cNvSpPr txBox="1"/>
          <p:nvPr/>
        </p:nvSpPr>
        <p:spPr>
          <a:xfrm>
            <a:off x="742750" y="2557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Examples: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711150" y="4693525"/>
            <a:ext cx="60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"/>
                <a:ea typeface="Nunito"/>
                <a:cs typeface="Nunito"/>
                <a:sym typeface="Nunito"/>
              </a:rPr>
              <a:t>[1] https://onlinelibrary.wiley.com/doi/10.1002/ets2.12269</a:t>
            </a:r>
            <a:endParaRPr sz="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4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560825" y="1583500"/>
            <a:ext cx="7911900" cy="15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Ability of determining the meanings of presented words.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Ability of identifying the synonyms of the presented words from the given choices.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9" name="Google Shape;189;p31"/>
          <p:cNvSpPr txBox="1"/>
          <p:nvPr>
            <p:ph type="title"/>
          </p:nvPr>
        </p:nvSpPr>
        <p:spPr>
          <a:xfrm>
            <a:off x="567600" y="521225"/>
            <a:ext cx="82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Subtest 2: Vocabulary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31"/>
          <p:cNvCxnSpPr/>
          <p:nvPr/>
        </p:nvCxnSpPr>
        <p:spPr>
          <a:xfrm>
            <a:off x="729725" y="1274326"/>
            <a:ext cx="54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31"/>
          <p:cNvSpPr txBox="1"/>
          <p:nvPr/>
        </p:nvSpPr>
        <p:spPr>
          <a:xfrm>
            <a:off x="1912425" y="2684800"/>
            <a:ext cx="30000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Item text:  stone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Response options: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jump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rock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cat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Correct answer:  rock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742750" y="27100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Example: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863550" y="4617325"/>
            <a:ext cx="60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"/>
                <a:ea typeface="Nunito"/>
                <a:cs typeface="Nunito"/>
                <a:sym typeface="Nunito"/>
              </a:rPr>
              <a:t>[1] https://onlinelibrary.wiley.com/doi/10.1002/ets2.12269</a:t>
            </a:r>
            <a:endParaRPr sz="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5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408425" y="1431100"/>
            <a:ext cx="5490000" cy="25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Ability to recognize and understand the role of morphemes in words and complete sentences.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Morphemes</a:t>
            </a:r>
            <a:r>
              <a:rPr lang="en" sz="1500">
                <a:solidFill>
                  <a:schemeClr val="dk1"/>
                </a:solidFill>
              </a:rPr>
              <a:t>: Smallest parts of a word that carry meaning usually consisting of the root (happy) and prefixes/suffixes (...ing, …er, etc.)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in the word "unhappiness,"  there are three morphemes: 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"un-" (which means "not"), 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"happy" (which means "feeling good")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"-ness" (which turns the adjective "happy" into a noun)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0" name="Google Shape;200;p32"/>
          <p:cNvSpPr txBox="1"/>
          <p:nvPr>
            <p:ph type="title"/>
          </p:nvPr>
        </p:nvSpPr>
        <p:spPr>
          <a:xfrm>
            <a:off x="415200" y="521225"/>
            <a:ext cx="82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Subtest 3: Morphology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32"/>
          <p:cNvCxnSpPr/>
          <p:nvPr/>
        </p:nvCxnSpPr>
        <p:spPr>
          <a:xfrm>
            <a:off x="577325" y="1274326"/>
            <a:ext cx="54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32"/>
          <p:cNvSpPr txBox="1"/>
          <p:nvPr/>
        </p:nvSpPr>
        <p:spPr>
          <a:xfrm>
            <a:off x="6068950" y="2704400"/>
            <a:ext cx="30000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Item text:  The ______ began class.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Response options: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teaching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teacher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teaches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Correct answer:  teacher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6048550" y="2343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Example: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863550" y="4464925"/>
            <a:ext cx="60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"/>
                <a:ea typeface="Nunito"/>
                <a:cs typeface="Nunito"/>
                <a:sym typeface="Nunito"/>
              </a:rPr>
              <a:t>[1] https://onlinelibrary.wiley.com/doi/10.1002/ets2.12269</a:t>
            </a:r>
            <a:endParaRPr sz="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6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560825" y="1735900"/>
            <a:ext cx="7194000" cy="15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Ability to construct basic meaning from print at the sentence level.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11" name="Google Shape;211;p33"/>
          <p:cNvSpPr txBox="1"/>
          <p:nvPr>
            <p:ph type="title"/>
          </p:nvPr>
        </p:nvSpPr>
        <p:spPr>
          <a:xfrm>
            <a:off x="567600" y="521225"/>
            <a:ext cx="82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Subtest 4: Sentence Processing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33"/>
          <p:cNvCxnSpPr/>
          <p:nvPr/>
        </p:nvCxnSpPr>
        <p:spPr>
          <a:xfrm>
            <a:off x="729725" y="1274326"/>
            <a:ext cx="54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33"/>
          <p:cNvSpPr txBox="1"/>
          <p:nvPr/>
        </p:nvSpPr>
        <p:spPr>
          <a:xfrm>
            <a:off x="1912425" y="2532400"/>
            <a:ext cx="3000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Item text:  The person ate __________ pieces of bread.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Response options: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many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soon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far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Correct answer:  many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742750" y="2557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Example: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863550" y="4693525"/>
            <a:ext cx="60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"/>
                <a:ea typeface="Nunito"/>
                <a:cs typeface="Nunito"/>
                <a:sym typeface="Nunito"/>
              </a:rPr>
              <a:t>[1] https://onlinelibrary.wiley.com/doi/10.1002/ets2.12269</a:t>
            </a:r>
            <a:endParaRPr sz="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7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713225" y="1735900"/>
            <a:ext cx="7194000" cy="15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Ability to read and understand text from a passage and answer related questions.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22" name="Google Shape;222;p34"/>
          <p:cNvSpPr txBox="1"/>
          <p:nvPr>
            <p:ph type="title"/>
          </p:nvPr>
        </p:nvSpPr>
        <p:spPr>
          <a:xfrm>
            <a:off x="567600" y="521225"/>
            <a:ext cx="82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Subtest 6: Reading Comprehension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34"/>
          <p:cNvCxnSpPr/>
          <p:nvPr/>
        </p:nvCxnSpPr>
        <p:spPr>
          <a:xfrm>
            <a:off x="729725" y="1274326"/>
            <a:ext cx="544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4"/>
          <p:cNvSpPr txBox="1"/>
          <p:nvPr/>
        </p:nvSpPr>
        <p:spPr>
          <a:xfrm>
            <a:off x="1836225" y="2532400"/>
            <a:ext cx="30000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Passage about Development of Subways</a:t>
            </a:r>
            <a:br>
              <a:rPr lang="en" sz="1300">
                <a:latin typeface="Nunito"/>
                <a:ea typeface="Nunito"/>
                <a:cs typeface="Nunito"/>
                <a:sym typeface="Nunito"/>
              </a:rPr>
            </a:br>
            <a:r>
              <a:rPr lang="en" sz="1300">
                <a:latin typeface="Nunito"/>
                <a:ea typeface="Nunito"/>
                <a:cs typeface="Nunito"/>
                <a:sym typeface="Nunito"/>
              </a:rPr>
              <a:t>…. Most people support subway systems because they reduce car traffic and air pollution. But building and maintaining a subway system can be very expensive. …..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742750" y="2557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Example: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34"/>
          <p:cNvSpPr txBox="1"/>
          <p:nvPr/>
        </p:nvSpPr>
        <p:spPr>
          <a:xfrm>
            <a:off x="5029275" y="2532400"/>
            <a:ext cx="36348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Item text:  According to the passage, subway systems: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Response options: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first appeared in New York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can be expensive to maintain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fail when they don’t offer enough stops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Correct answer:  can be expensive to maintain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863550" y="4617325"/>
            <a:ext cx="60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Nunito"/>
                <a:ea typeface="Nunito"/>
                <a:cs typeface="Nunito"/>
                <a:sym typeface="Nunito"/>
              </a:rPr>
              <a:t>[1] https://onlinelibrary.wiley.com/doi/10.1002/ets2.12269</a:t>
            </a:r>
            <a:endParaRPr sz="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8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ctrTitle"/>
          </p:nvPr>
        </p:nvSpPr>
        <p:spPr>
          <a:xfrm>
            <a:off x="620075" y="4428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RQ1: Can LLMs simulate human learners in a test-taking environment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34" name="Google Shape;234;p35"/>
          <p:cNvCxnSpPr/>
          <p:nvPr/>
        </p:nvCxnSpPr>
        <p:spPr>
          <a:xfrm>
            <a:off x="718541" y="13528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35"/>
          <p:cNvSpPr txBox="1"/>
          <p:nvPr/>
        </p:nvSpPr>
        <p:spPr>
          <a:xfrm>
            <a:off x="587675" y="1557450"/>
            <a:ext cx="76803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Dataset with questions and their answers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Using a few-shot prompting approach to make the LLM take the assessment.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Given a skill and a few examples of questions with their answers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Task is to answer the rest of the questions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The assessment was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repeated thrice to ensure greater accuracy and generalizability of results.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After data collection, we record overall accuracy and accuracy specific to each skill.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We will then compare this data to actual student data at different levels, e.g. middle school, high school, undergraduates, etc.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9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type="ctrTitle"/>
          </p:nvPr>
        </p:nvSpPr>
        <p:spPr>
          <a:xfrm>
            <a:off x="620075" y="5190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Preliminary Results of RQ1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42" name="Google Shape;242;p36"/>
          <p:cNvCxnSpPr/>
          <p:nvPr/>
        </p:nvCxnSpPr>
        <p:spPr>
          <a:xfrm>
            <a:off x="718541" y="11242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6"/>
          <p:cNvSpPr txBox="1"/>
          <p:nvPr/>
        </p:nvSpPr>
        <p:spPr>
          <a:xfrm>
            <a:off x="3478949" y="2590525"/>
            <a:ext cx="22362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4" name="Google Shape;2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50" y="3084676"/>
            <a:ext cx="3544749" cy="11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6"/>
          <p:cNvSpPr txBox="1"/>
          <p:nvPr/>
        </p:nvSpPr>
        <p:spPr>
          <a:xfrm>
            <a:off x="557375" y="1659500"/>
            <a:ext cx="68121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Average accuracy of about 90%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The LLM may be able to simulate advanced learners at the undergraduate level based on the human test results.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10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/>
        </p:nvSpPr>
        <p:spPr>
          <a:xfrm>
            <a:off x="3478949" y="2590525"/>
            <a:ext cx="22362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2" name="Google Shape;2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900" y="424475"/>
            <a:ext cx="6475474" cy="4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7"/>
          <p:cNvSpPr txBox="1"/>
          <p:nvPr/>
        </p:nvSpPr>
        <p:spPr>
          <a:xfrm>
            <a:off x="174150" y="1642325"/>
            <a:ext cx="18831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Performs poorly with word recognition and decoding tasks.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Mirrors current struggles with phonetic tasks.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37"/>
          <p:cNvSpPr/>
          <p:nvPr/>
        </p:nvSpPr>
        <p:spPr>
          <a:xfrm>
            <a:off x="2396300" y="462150"/>
            <a:ext cx="2071200" cy="192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11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ctrTitle"/>
          </p:nvPr>
        </p:nvSpPr>
        <p:spPr>
          <a:xfrm>
            <a:off x="620075" y="5190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Preliminary Results of RQ1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1" name="Google Shape;261;p38"/>
          <p:cNvCxnSpPr/>
          <p:nvPr/>
        </p:nvCxnSpPr>
        <p:spPr>
          <a:xfrm>
            <a:off x="718541" y="11242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38"/>
          <p:cNvSpPr txBox="1"/>
          <p:nvPr/>
        </p:nvSpPr>
        <p:spPr>
          <a:xfrm>
            <a:off x="3478949" y="2590525"/>
            <a:ext cx="22362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3" name="Google Shape;2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381" y="1383125"/>
            <a:ext cx="5414226" cy="33907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 txBox="1"/>
          <p:nvPr/>
        </p:nvSpPr>
        <p:spPr>
          <a:xfrm>
            <a:off x="303350" y="1966700"/>
            <a:ext cx="28383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Produces most incorrect answers while determining if the word is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phonetically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 similar to 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existing</a:t>
            </a:r>
            <a:r>
              <a:rPr lang="en" sz="1300">
                <a:latin typeface="Nunito"/>
                <a:ea typeface="Nunito"/>
                <a:cs typeface="Nunito"/>
                <a:sym typeface="Nunito"/>
              </a:rPr>
              <a:t> words.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Specifically, it performs well with word recognition but poorly with word decoding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12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ctrTitle"/>
          </p:nvPr>
        </p:nvSpPr>
        <p:spPr>
          <a:xfrm>
            <a:off x="620075" y="5190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RQ2: </a:t>
            </a: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Can LLMs generate questions effectively testing various reading comprehension abilities for learners?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1" name="Google Shape;271;p39"/>
          <p:cNvCxnSpPr/>
          <p:nvPr/>
        </p:nvCxnSpPr>
        <p:spPr>
          <a:xfrm>
            <a:off x="718541" y="13528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39"/>
          <p:cNvSpPr txBox="1"/>
          <p:nvPr/>
        </p:nvSpPr>
        <p:spPr>
          <a:xfrm>
            <a:off x="587675" y="1709850"/>
            <a:ext cx="76803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Using a few-shot prompting approach, make the LLM generate 20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questions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for every skill.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Examples of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questions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with their answer is given for few-shot.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Make the LLM answer it’s generated questions in a separate chat.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Repeat thrice for validity.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Record accuracy and compare to the results of RQ1.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If 90% accuracy was indicative of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undergraduate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student expertise, &gt;90% accuracy would mean easier question-level and &lt;90% would mean more difficult questions.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3" name="Google Shape;273;p39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13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type="ctrTitle"/>
          </p:nvPr>
        </p:nvSpPr>
        <p:spPr>
          <a:xfrm>
            <a:off x="620075" y="5190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Preliminary Results of RQ2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9" name="Google Shape;279;p40"/>
          <p:cNvCxnSpPr/>
          <p:nvPr/>
        </p:nvCxnSpPr>
        <p:spPr>
          <a:xfrm>
            <a:off x="718541" y="11242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0"/>
          <p:cNvSpPr txBox="1"/>
          <p:nvPr/>
        </p:nvSpPr>
        <p:spPr>
          <a:xfrm>
            <a:off x="3478949" y="2590525"/>
            <a:ext cx="22362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1" name="Google Shape;281;p40"/>
          <p:cNvSpPr txBox="1"/>
          <p:nvPr/>
        </p:nvSpPr>
        <p:spPr>
          <a:xfrm>
            <a:off x="481175" y="1583300"/>
            <a:ext cx="78468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In attempts 1 and 3, it generated questions easier than the undergraduate student level.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In attempt 2, it generate questions for a higher expertise than college students.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2" name="Google Shape;2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0" y="2842550"/>
            <a:ext cx="5755801" cy="16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0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14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/>
        </p:nvSpPr>
        <p:spPr>
          <a:xfrm>
            <a:off x="3478949" y="2590525"/>
            <a:ext cx="22362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491650" y="1616650"/>
            <a:ext cx="645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" sz="1300">
                <a:latin typeface="Nunito"/>
                <a:ea typeface="Nunito"/>
                <a:cs typeface="Nunito"/>
                <a:sym typeface="Nunito"/>
              </a:rPr>
              <a:t>Generates easier questions for the word decoding skill. 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0" name="Google Shape;2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00" y="2425975"/>
            <a:ext cx="8343194" cy="23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1"/>
          <p:cNvSpPr/>
          <p:nvPr/>
        </p:nvSpPr>
        <p:spPr>
          <a:xfrm>
            <a:off x="350900" y="2798550"/>
            <a:ext cx="1360800" cy="192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2" name="Google Shape;292;p41"/>
          <p:cNvSpPr txBox="1"/>
          <p:nvPr>
            <p:ph type="ctrTitle"/>
          </p:nvPr>
        </p:nvSpPr>
        <p:spPr>
          <a:xfrm>
            <a:off x="620075" y="5190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Preliminary Results of RQ2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93" name="Google Shape;293;p41"/>
          <p:cNvCxnSpPr/>
          <p:nvPr/>
        </p:nvCxnSpPr>
        <p:spPr>
          <a:xfrm>
            <a:off x="718541" y="11242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1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15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"/>
          <p:cNvSpPr txBox="1"/>
          <p:nvPr>
            <p:ph type="ctrTitle"/>
          </p:nvPr>
        </p:nvSpPr>
        <p:spPr>
          <a:xfrm>
            <a:off x="620075" y="5190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Future Work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0" name="Google Shape;300;p42"/>
          <p:cNvCxnSpPr/>
          <p:nvPr/>
        </p:nvCxnSpPr>
        <p:spPr>
          <a:xfrm>
            <a:off x="718541" y="12004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42"/>
          <p:cNvSpPr txBox="1"/>
          <p:nvPr/>
        </p:nvSpPr>
        <p:spPr>
          <a:xfrm>
            <a:off x="587675" y="1709850"/>
            <a:ext cx="76803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Use more robust methods of analysis for evaluating question quality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Classifiers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Using linguistic metrics like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readability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comprehensibility, quality of distractors, etc. from coh-metrix.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Build a cross-comparison analysis with other LLMs to ensure generalizability of results to all large language models.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42"/>
          <p:cNvSpPr txBox="1"/>
          <p:nvPr/>
        </p:nvSpPr>
        <p:spPr>
          <a:xfrm>
            <a:off x="3478949" y="2590525"/>
            <a:ext cx="22362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8317725" y="4565775"/>
            <a:ext cx="61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Nunito"/>
                <a:ea typeface="Nunito"/>
                <a:cs typeface="Nunito"/>
                <a:sym typeface="Nunito"/>
              </a:rPr>
              <a:t>16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ctrTitle"/>
          </p:nvPr>
        </p:nvSpPr>
        <p:spPr>
          <a:xfrm>
            <a:off x="637200" y="1857750"/>
            <a:ext cx="74538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A1A1A"/>
                </a:solidFill>
                <a:latin typeface="Nunito"/>
                <a:ea typeface="Nunito"/>
                <a:cs typeface="Nunito"/>
                <a:sym typeface="Nunito"/>
              </a:rPr>
              <a:t>Thank you to Jionghao Lin, Liang Zhang, and John Hollander for their feedback!</a:t>
            </a:r>
            <a:endParaRPr b="0" sz="29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9" name="Google Shape;309;p43"/>
          <p:cNvCxnSpPr/>
          <p:nvPr/>
        </p:nvCxnSpPr>
        <p:spPr>
          <a:xfrm>
            <a:off x="735666" y="2873493"/>
            <a:ext cx="311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43"/>
          <p:cNvSpPr txBox="1"/>
          <p:nvPr/>
        </p:nvSpPr>
        <p:spPr>
          <a:xfrm>
            <a:off x="3478949" y="2590525"/>
            <a:ext cx="22362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