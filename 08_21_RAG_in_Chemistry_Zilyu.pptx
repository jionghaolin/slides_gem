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PT Sans Narrow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Narrow-bold.fntdata"/><Relationship Id="rId30" Type="http://schemas.openxmlformats.org/officeDocument/2006/relationships/font" Target="fonts/PTSansNarrow-regular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49ae94f35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49ae94f35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49ae94f35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49ae94f35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49ae94f35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49ae94f35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49ae94f35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49ae94f35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49ae94f35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49ae94f35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49ae94f35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49ae94f35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49ae94f35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49ae94f35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49ae94f35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49ae94f35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49ae94f35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49ae94f35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49ae94f35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f49ae94f35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49ae94f35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49ae94f35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49ae94f35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49ae94f35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49ae94f35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49ae94f35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49ae94f35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f49ae94f35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49ae94f35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49ae94f35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49ae94f35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49ae94f35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49ae94f35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49ae94f35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49ae94f35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f49ae94f35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49ae94f35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49ae94f35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49ae94f35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49ae94f35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4bb00a8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4bb00a8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4bb00a8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4bb00a8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4bb00a89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f4bb00a8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4bb00a89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4bb00a89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Kangxi_Empero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and its </a:t>
            </a:r>
            <a:r>
              <a:rPr lang="en"/>
              <a:t>application</a:t>
            </a:r>
            <a:r>
              <a:rPr lang="en"/>
              <a:t> in chemistry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of RAG: the problems with LLM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Large language model (LLM) are large,autoregressive model that is powerful in generate human-like text through next token prediction.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Howevers, since </a:t>
            </a:r>
            <a:r>
              <a:rPr lang="en"/>
              <a:t>technically </a:t>
            </a:r>
            <a:r>
              <a:rPr lang="en"/>
              <a:t>next token prediction does not </a:t>
            </a:r>
            <a:r>
              <a:rPr lang="en"/>
              <a:t>directly</a:t>
            </a:r>
            <a:r>
              <a:rPr lang="en"/>
              <a:t> penalize LLM </a:t>
            </a:r>
            <a:r>
              <a:rPr lang="en"/>
              <a:t>for generate factually mistaken information, even a well-trained LLM  makes factual mistakes, especially when generating topics that are not frequently presented in its training corpus. This phenomenon is termed ‘hallucination’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Moreover, an LLM have only a limited training corpus. For example, it may not have knowledge after a </a:t>
            </a:r>
            <a:r>
              <a:rPr lang="en"/>
              <a:t>certain</a:t>
            </a:r>
            <a:r>
              <a:rPr lang="en"/>
              <a:t> date, it may does not have access to </a:t>
            </a:r>
            <a:r>
              <a:rPr lang="en"/>
              <a:t>proprietary</a:t>
            </a:r>
            <a:r>
              <a:rPr lang="en"/>
              <a:t> data…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example of hallucination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should be Yinsi (or Yunsi)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9575" y="1152414"/>
            <a:ext cx="9144001" cy="2397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example of hallucination, a larger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be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most </a:t>
            </a:r>
            <a:r>
              <a:rPr lang="en"/>
              <a:t>epsilon</a:t>
            </a:r>
            <a:r>
              <a:rPr lang="en"/>
              <a:t> * k^2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025" y="1048711"/>
            <a:ext cx="6432973" cy="33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25"/>
            <a:ext cx="85206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Retrieval</a:t>
            </a:r>
            <a:r>
              <a:rPr lang="en"/>
              <a:t> Augmented generation is introduced to reduce LLM hallucinations and allows LLM to have an extended </a:t>
            </a:r>
            <a:r>
              <a:rPr lang="en"/>
              <a:t>knowledge base.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Basic formulation: We have a set of documents that serves as our knowledge base,  KB := [d_1, … d_n], each of which  a chunk of text.  When given a query q, we retrieve k most relevant documents from  KB that is most relevant to the query q, with k &lt;&lt; n, and we feed the following as input to LLM: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 query {q} based on the following evidences {k documents we retrieve}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</a:t>
            </a:r>
            <a:r>
              <a:rPr lang="en"/>
              <a:t>example: KangXi emperor’s eighth son</a:t>
            </a:r>
            <a:r>
              <a:rPr lang="en"/>
              <a:t> 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Query: who is KangXi’s eighth son?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KB: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https://en.wikipedia.org/wiki/Kangxi_Emperor</a:t>
            </a:r>
            <a:r>
              <a:rPr lang="en"/>
              <a:t> (wiki page of KangXi)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Retrieved Document: 3 text segments is selected from the KB, they are presented in the Next slide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Final prompt: ‘Answer the questions: </a:t>
            </a:r>
            <a:r>
              <a:rPr lang="en"/>
              <a:t> who is KangXi’s eighth son? Based on the following documents’ + all the retrieved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-12506" l="-13820" r="13820" t="1235"/>
          <a:stretch/>
        </p:blipFill>
        <p:spPr>
          <a:xfrm>
            <a:off x="-1905375" y="445025"/>
            <a:ext cx="11857198" cy="48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example result: KangXi emperor’s third son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Gpt-4o-mini answer w/o RAG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Gpt-4o-mini answer w/ RAG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14527"/>
            <a:ext cx="9144003" cy="99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589375"/>
            <a:ext cx="3692274" cy="12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why RAG works 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have </a:t>
            </a:r>
            <a:r>
              <a:rPr lang="en"/>
              <a:t>the</a:t>
            </a:r>
            <a:r>
              <a:rPr lang="en"/>
              <a:t> ability to learn the knowledge/pattern from the prompt, and apply them at inference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gpt-3 paper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38" y="2329875"/>
            <a:ext cx="8869323" cy="13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</a:t>
            </a:r>
            <a:r>
              <a:rPr lang="en"/>
              <a:t> is </a:t>
            </a:r>
            <a:r>
              <a:rPr lang="en"/>
              <a:t>retrieval</a:t>
            </a:r>
            <a:r>
              <a:rPr lang="en"/>
              <a:t> done?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we have a query q and a set of text segment KB, we want to retrieve k documents from KB that is most </a:t>
            </a:r>
            <a:r>
              <a:rPr lang="en"/>
              <a:t>relevant</a:t>
            </a:r>
            <a:r>
              <a:rPr lang="en"/>
              <a:t> to q.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are two major ways of </a:t>
            </a:r>
            <a:r>
              <a:rPr lang="en"/>
              <a:t>retrieving document from KB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Sparse </a:t>
            </a:r>
            <a:r>
              <a:rPr lang="en"/>
              <a:t>retrieval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Dense </a:t>
            </a:r>
            <a:r>
              <a:rPr lang="en"/>
              <a:t>retrieval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But, our strategy is always as followed: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each document d in KB, calculate similarity(q,d), select the ds with the highest similarity.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Sparse </a:t>
            </a:r>
            <a:r>
              <a:rPr lang="en"/>
              <a:t>retrieval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4"/>
              <a:t>Traditional NLP approach, used by search engines.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4"/>
              <a:t> The baseline is TF-IDF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4"/>
              <a:t>The algorithm has two major components, for each word w in each document d, we calculate: 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4"/>
              <a:t>TF-IDF(w,d) = TF(w,d) * IDF(w,d)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4"/>
              <a:t>= (# of w in d/# of total word in d) * ln(# of documents in KB / # of  document that contains w)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4"/>
              <a:t>The first term gives how common word w is in document d, and the second term gives how rare the term w is in our entire KB</a:t>
            </a:r>
            <a:endParaRPr sz="260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Sparse retrieval (con)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for example， by compute the TF-IDF </a:t>
            </a:r>
            <a:r>
              <a:rPr lang="en"/>
              <a:t>score</a:t>
            </a:r>
            <a:r>
              <a:rPr lang="en"/>
              <a:t> for each word w  for document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‘Jacob greenfield is a </a:t>
            </a:r>
            <a:r>
              <a:rPr lang="en"/>
              <a:t>person’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have a vector [0.4,0.5,0.2,0.1,0,0,0,0,0….]. Where each index represents a word w, and each indexed value represents TF-IDF(w,document).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Therefore, after we compute the TF-IDF for our query q and all documents in KB, we will have a sparse vector representation of them,giving a sparse matrix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xample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75" y="1880850"/>
            <a:ext cx="9144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Spase </a:t>
            </a:r>
            <a:r>
              <a:rPr lang="en"/>
              <a:t>retrieval(con)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compute the cosine similarity to find out the k vectors that bear the highest cosine similarity with the vector of query q, and then we pull the corresponding text for those vector.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Sparse </a:t>
            </a:r>
            <a:r>
              <a:rPr lang="en"/>
              <a:t>retrieval</a:t>
            </a:r>
            <a:r>
              <a:rPr lang="en"/>
              <a:t> (con)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the </a:t>
            </a:r>
            <a:r>
              <a:rPr lang="en"/>
              <a:t>prevailing</a:t>
            </a:r>
            <a:r>
              <a:rPr lang="en"/>
              <a:t> algorithm is BM-25(best match 25), which is an improvement on the TF-IDF algorithm. It have a better coefficient </a:t>
            </a:r>
            <a:r>
              <a:rPr lang="en"/>
              <a:t>compared</a:t>
            </a:r>
            <a:r>
              <a:rPr lang="en"/>
              <a:t> to TF. However it still uses the </a:t>
            </a:r>
            <a:r>
              <a:rPr lang="en"/>
              <a:t>heuristic</a:t>
            </a:r>
            <a:r>
              <a:rPr lang="en"/>
              <a:t> IDF.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as we see: the reason why sparse retrieval is called sparse is that it gives our KB a sparse matrix representation  (|KB| x  # of possible words in </a:t>
            </a:r>
            <a:r>
              <a:rPr lang="en"/>
              <a:t>BM-25 and TF-IDF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Then, the reason why dense retrieval is called dense is that…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gives our KB a dense matrix representation.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 retrieval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we do not want to simply use the IDF heuristic, we want to match query to document that are semantically similar.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How: We still follow the “calculating similarity” strategy, and use neural network to approximate a function similarity(q,d), which takes in a query q and a document d, and outputs the similarity.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ense </a:t>
            </a:r>
            <a:r>
              <a:rPr lang="en"/>
              <a:t>retrieval</a:t>
            </a:r>
            <a:r>
              <a:rPr lang="en"/>
              <a:t> 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</a:t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00" y="1023009"/>
            <a:ext cx="9144003" cy="2821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 </a:t>
            </a:r>
            <a:r>
              <a:rPr lang="en"/>
              <a:t>retrieval</a:t>
            </a:r>
            <a:r>
              <a:rPr lang="en"/>
              <a:t> staging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neural network of type (a)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type (d). Parameters that </a:t>
            </a:r>
            <a:r>
              <a:rPr lang="en"/>
              <a:t>receives input from the documents does not interacts with the parameters that receive input from the query.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 we can do the computation for document d in similarity(q,d) without the presence of query q – the computation for query and for document is largely splitted.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means that  for a fixed KB we can do some computation for each document in KB to give it a certain tensor embedding. Then, we can use those embeddings to calculate similarity(q,d) for any q, saving a lot of computation.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251" y="120121"/>
            <a:ext cx="5199452" cy="16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 retrieval(con)</a:t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SOTA in dense </a:t>
            </a:r>
            <a:r>
              <a:rPr lang="en"/>
              <a:t>retrieval</a:t>
            </a:r>
            <a:r>
              <a:rPr lang="en"/>
              <a:t> is changing, and they have </a:t>
            </a:r>
            <a:r>
              <a:rPr lang="en"/>
              <a:t>varying</a:t>
            </a:r>
            <a:r>
              <a:rPr lang="en"/>
              <a:t> architecture. However, they are mostly following the paradigm of </a:t>
            </a:r>
            <a:r>
              <a:rPr lang="en"/>
              <a:t>splitting</a:t>
            </a:r>
            <a:r>
              <a:rPr lang="en"/>
              <a:t> the computation for query and for document.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</a:t>
            </a:r>
            <a:r>
              <a:rPr lang="en"/>
              <a:t>note on long-context LLM 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57"/>
              <a:t>Many </a:t>
            </a:r>
            <a:r>
              <a:rPr lang="en" sz="5857"/>
              <a:t>argued</a:t>
            </a:r>
            <a:r>
              <a:rPr lang="en" sz="5857"/>
              <a:t> that in the age of long-context LLM we can just stuff the entire KB in the context </a:t>
            </a:r>
            <a:r>
              <a:rPr lang="en" sz="5857"/>
              <a:t>window, however, this is a little problematic: </a:t>
            </a:r>
            <a:endParaRPr sz="58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5857"/>
            </a:br>
            <a:r>
              <a:rPr lang="en" sz="5857"/>
              <a:t>The task is to find certain part of an </a:t>
            </a:r>
            <a:endParaRPr sz="58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857"/>
              <a:t>Hour-long academic meeting. Researcher dump</a:t>
            </a:r>
            <a:endParaRPr sz="58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857"/>
              <a:t>The entire meeting record into a long-context LLM,</a:t>
            </a:r>
            <a:endParaRPr sz="585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857"/>
              <a:t>But information loss occurs, especially when it is in the middle of </a:t>
            </a:r>
            <a:endParaRPr sz="585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857"/>
              <a:t>The conference recording</a:t>
            </a:r>
            <a:br>
              <a:rPr lang="en" sz="5857"/>
            </a:br>
            <a:br>
              <a:rPr lang="en" sz="5857"/>
            </a:br>
            <a:br>
              <a:rPr lang="en" sz="5857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749" y="2025200"/>
            <a:ext cx="3793425" cy="22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in chemistry: KB is no longer chunks of text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chemistry, our KBs are no longer chunks of texts. They comes in variety different form, for example, knowledge graph and table.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424" y="2043950"/>
            <a:ext cx="6937001" cy="269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table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147" y="1002050"/>
            <a:ext cx="539680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olution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solutions are usually transforming those structured text into unstructured text chunk so that </a:t>
            </a:r>
            <a:r>
              <a:rPr lang="en"/>
              <a:t>they can become viable format for LLM to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While not much development is seen for transforming table data, there are many interesting result for knowledge graph.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overview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graph theory: </a:t>
            </a:r>
            <a:r>
              <a:rPr lang="en"/>
              <a:t>community (dense subgraph)</a:t>
            </a:r>
            <a:r>
              <a:rPr lang="en"/>
              <a:t> detection + community </a:t>
            </a:r>
            <a:r>
              <a:rPr lang="en"/>
              <a:t>summarization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Retrieval-based approach: retrieve vertex of graph through retrieval technique, and get its text and the text from its neighbors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GNN-based approach: GNN layer + LM layer to develop knowledge graph informed LLM.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